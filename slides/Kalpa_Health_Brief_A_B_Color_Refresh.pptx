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Assistant"/>
      <p:regular r:id="rId201314"/>
    </p:embeddedFont>
    <p:embeddedFont>
      <p:font typeface="Assistant SemiBold"/>
      <p:regular r:id="rId201315"/>
    </p:embeddedFont>
    <p:embeddedFont>
      <p:font typeface="Assistant Bold"/>
      <p:regular r:id="rId201316"/>
    </p:embeddedFont>
    <p:embeddedFont>
      <p:font typeface="Rubik SemiBold"/>
      <p:regular r:id="rId201317"/>
    </p:embeddedFont>
    <p:embeddedFont>
      <p:font typeface="Rubik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>
              <a:alpha val="8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2971" y="1270953"/>
            <a:ext cx="855958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H1 2026 · EVIDENCE REVIEW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2971" y="1626677"/>
            <a:ext cx="7950001" cy="384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7200" dirty="0" b="1">
                <a:solidFill>
                  <a:srgbClr val="FFFFFF"/>
                </a:solidFill>
                <a:latin typeface="Aptos Display" pitchFamily="34" charset="0"/>
                <a:ea typeface="Rubik ExtraBold" pitchFamily="34" charset="-122"/>
                <a:cs typeface="Rubik ExtraBold" pitchFamily="34" charset="0"/>
              </a:rPr>
              <a:t>H1 growth missed plan,</a:t>
            </a:r>
            <a:endParaRPr lang="en-US" sz="72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7200" dirty="0" b="1">
                <a:solidFill>
                  <a:srgbClr val="FFFFFF"/>
                </a:solidFill>
                <a:latin typeface="Aptos Display" pitchFamily="34" charset="0"/>
                <a:ea typeface="Rubik ExtraBold" pitchFamily="34" charset="-122"/>
                <a:cs typeface="Rubik ExtraBold" pitchFamily="34" charset="0"/>
              </a:rPr>
              <a:t>and two cities declined in Q2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2971" y="5617468"/>
            <a:ext cx="795000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Investigate why booked tests grew </a:t>
            </a:r>
            <a:pPr algn="l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5.01%</a:t>
            </a:r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 in H1 2026 versus an </a:t>
            </a:r>
            <a:pPr algn="l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18%</a:t>
            </a:r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 plan, and what the Q2 booking declines in Chennai and Jaipur show.</a:t>
            </a:r>
            <a:endParaRPr lang="en-US" sz="2000" dirty="0"/>
          </a:p>
        </p:txBody>
      </p:sp>
      <p:sp>
        <p:nvSpPr>
          <p:cNvPr id="6" name="Oval 5"/>
          <p:cNvSpPr/>
          <p:nvPr/>
        </p:nvSpPr>
        <p:spPr>
          <a:xfrm>
            <a:off x="10195560" y="1143000"/>
            <a:ext cx="841248" cy="841248"/>
          </a:xfrm>
          <a:prstGeom prst="ellipse">
            <a:avLst/>
          </a:prstGeom>
          <a:solidFill>
            <a:srgbClr val="00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080" y="2148840"/>
            <a:ext cx="384048" cy="384048"/>
          </a:xfrm>
          <a:prstGeom prst="ellipse">
            <a:avLst/>
          </a:prstGeom>
          <a:solidFill>
            <a:srgbClr val="D9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12680" y="2743200"/>
            <a:ext cx="310896" cy="310896"/>
          </a:xfrm>
          <a:prstGeom prst="ellipse">
            <a:avLst/>
          </a:prstGeom>
          <a:solidFill>
            <a:srgbClr val="E9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52760" y="4069080"/>
            <a:ext cx="603504" cy="603504"/>
          </a:xfrm>
          <a:prstGeom prst="ellipse">
            <a:avLst/>
          </a:prstGeom>
          <a:solidFill>
            <a:srgbClr val="4B8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 advClick="1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THE SIGNAL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The signal is real; the cause is not yet established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298005"/>
            <a:ext cx="3572877" cy="2433836"/>
          </a:xfrm>
          <a:prstGeom prst="rect">
            <a:avLst/>
          </a:prstGeom>
          <a:solidFill>
            <a:srgbClr val="E8F1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3578" y="2552958"/>
            <a:ext cx="331888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GROWTH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578" y="2863190"/>
            <a:ext cx="306489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dirty="0" b="1">
                <a:solidFill>
                  <a:srgbClr val="4B83E6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+5.01%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3578" y="3506291"/>
            <a:ext cx="306489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H1 booked tests rose from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435,008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 to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456,788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, versus an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18%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 plan.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09359" y="2298005"/>
            <a:ext cx="3572976" cy="2433836"/>
          </a:xfrm>
          <a:prstGeom prst="rect">
            <a:avLst/>
          </a:prstGeom>
          <a:solidFill>
            <a:srgbClr val="FCEBE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63353" y="2552958"/>
            <a:ext cx="331898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CITIES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63353" y="2863190"/>
            <a:ext cx="306498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dirty="0" b="1">
                <a:solidFill>
                  <a:srgbClr val="E9715E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−7.6% · −10.7%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63353" y="3506291"/>
            <a:ext cx="3064989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Adjusted Q2 bookings fell in Chennai and Jaipur; four Legacy cities grew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2.1%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09233" y="2298005"/>
            <a:ext cx="3572877" cy="2433836"/>
          </a:xfrm>
          <a:prstGeom prst="rect">
            <a:avLst/>
          </a:prstGeom>
          <a:solidFill>
            <a:srgbClr val="E3F6F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63227" y="2552958"/>
            <a:ext cx="331888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COUNTING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63227" y="2863190"/>
            <a:ext cx="306489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dirty="0" b="1">
                <a:solidFill>
                  <a:srgbClr val="00A892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Falls get larger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63227" y="3506291"/>
            <a:ext cx="306489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Removing superseded records made both declines larger, but did not explain all of either decline.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585" y="6027738"/>
            <a:ext cx="1158211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The evidence establishes the gap and the city pattern. It does not yet establish the cause.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02</a:t>
            </a:r>
            <a:endParaRPr lang="en-US" sz="1100" dirty="0"/>
          </a:p>
        </p:txBody>
      </p:sp>
      <p:sp>
        <p:nvSpPr>
          <p:cNvPr id="18" name="Rounded Rectangle 17"/>
          <p:cNvSpPr/>
          <p:nvPr/>
        </p:nvSpPr>
        <p:spPr>
          <a:xfrm>
            <a:off x="612648" y="2295144"/>
            <a:ext cx="68580" cy="2432304"/>
          </a:xfrm>
          <a:prstGeom prst="roundRect">
            <a:avLst/>
          </a:prstGeom>
          <a:solidFill>
            <a:srgbClr val="4B8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6824" y="2295144"/>
            <a:ext cx="68580" cy="2432304"/>
          </a:xfrm>
          <a:prstGeom prst="roundRect">
            <a:avLst/>
          </a:prstGeom>
          <a:solidFill>
            <a:srgbClr val="E9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0144" y="2295144"/>
            <a:ext cx="68580" cy="2432304"/>
          </a:xfrm>
          <a:prstGeom prst="roundRect">
            <a:avLst/>
          </a:prstGeom>
          <a:solidFill>
            <a:srgbClr val="00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 advClick="1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One consistent counting rule connects the analysis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285305"/>
            <a:ext cx="2092868" cy="292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3578" y="2539305"/>
            <a:ext cx="83956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01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63578" y="2863155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3578" y="3042801"/>
            <a:ext cx="158488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Booking + plan data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29450" y="2285305"/>
            <a:ext cx="2092868" cy="292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83443" y="2539305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02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3083443" y="2863155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3443" y="3042801"/>
            <a:ext cx="158488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Standardize dates, cities, periods, definitions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49314" y="2285305"/>
            <a:ext cx="2092967" cy="292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03308" y="2539305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03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5303308" y="2863155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3308" y="3042801"/>
            <a:ext cx="1584980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Remove superseded reschedules; flag questionable rows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69278" y="2285305"/>
            <a:ext cx="2092868" cy="292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523272" y="2539305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04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7523272" y="2863155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272" y="3042801"/>
            <a:ext cx="1584881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Compare H1 actual with plan and Q2 cities with Legacy peers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89143" y="2285305"/>
            <a:ext cx="2092967" cy="292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743137" y="2539305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05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9743137" y="2863155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3137" y="3042801"/>
            <a:ext cx="158498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Decompose growth; check patient/activity and sensitivity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09585" y="5404644"/>
            <a:ext cx="10972526" cy="1187450"/>
          </a:xfrm>
          <a:prstGeom prst="roundRect">
            <a:avLst>
              <a:gd name="adj" fmla="val 2727"/>
            </a:avLst>
          </a:prstGeom>
          <a:solidFill>
            <a:srgbClr val="E8F1FC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5479" y="5674519"/>
            <a:ext cx="1054073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0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Method notes.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 b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 H1 means January–June. Q2 comparisons use the same rule in every city and exclude superseded rescheduled bookings.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03</a:t>
            </a:r>
            <a:endParaRPr lang="en-US" sz="1100" dirty="0"/>
          </a:p>
        </p:txBody>
      </p:sp>
      <p:sp>
        <p:nvSpPr>
          <p:cNvPr id="27" name="Rounded Rectangle 26"/>
          <p:cNvSpPr/>
          <p:nvPr/>
        </p:nvSpPr>
        <p:spPr>
          <a:xfrm>
            <a:off x="612648" y="2286000"/>
            <a:ext cx="82296" cy="2926080"/>
          </a:xfrm>
          <a:prstGeom prst="roundRect">
            <a:avLst/>
          </a:prstGeom>
          <a:solidFill>
            <a:srgbClr val="4B8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25496" y="2286000"/>
            <a:ext cx="82296" cy="2926080"/>
          </a:xfrm>
          <a:prstGeom prst="roundRect">
            <a:avLst/>
          </a:prstGeom>
          <a:solidFill>
            <a:srgbClr val="00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47488" y="2286000"/>
            <a:ext cx="82296" cy="2926080"/>
          </a:xfrm>
          <a:prstGeom prst="roundRect">
            <a:avLst/>
          </a:prstGeom>
          <a:solidFill>
            <a:srgbClr val="D9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69480" y="2286000"/>
            <a:ext cx="82296" cy="2926080"/>
          </a:xfrm>
          <a:prstGeom prst="roundRect">
            <a:avLst/>
          </a:prstGeom>
          <a:solidFill>
            <a:srgbClr val="796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91472" y="2286000"/>
            <a:ext cx="82296" cy="2926080"/>
          </a:xfrm>
          <a:prstGeom prst="roundRect">
            <a:avLst/>
          </a:prstGeom>
          <a:solidFill>
            <a:srgbClr val="E9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 advClick="1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H1 GROWTH DECOMPOSITION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Patients drove most of the H1 gap, while activity partly offset it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96405"/>
            <a:ext cx="9927481" cy="36194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903119"/>
            <a:ext cx="1158211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The factors combine multiplicatively; do not multiply the percentage changes directly.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04</a:t>
            </a:r>
            <a:endParaRPr lang="en-US" sz="1100" dirty="0"/>
          </a:p>
        </p:txBody>
      </p:sp>
    </p:spTree>
  </p:cSld>
  <p:transition spd="fast" advClick="1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PLAN SHORTFALL · H1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Three cities explain about 65% of the positive plan shortfall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63080"/>
            <a:ext cx="10413739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906393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Chennai, Bengaluru, and Jaipur contribute 64.8% combined. All six cities were below their H1 2026 plans.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05</a:t>
            </a:r>
            <a:endParaRPr lang="en-US" sz="1100" dirty="0"/>
          </a:p>
        </p:txBody>
      </p:sp>
    </p:spTree>
  </p:cSld>
  <p:transition spd="fast" advClick="1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CITY COMPARISON · ADJUSTED BOOKINGS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Chennai and Jaipur fell while Legacy peers grew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63080"/>
            <a:ext cx="10413739" cy="353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880993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Q2 2025 → Q2 2026. Chennai: 17,444 → 16,116. Jaipur: 9,136 → 8,161. Rule: exclude superseded rescheduled bookings.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06</a:t>
            </a:r>
            <a:endParaRPr lang="en-US" sz="1100" dirty="0"/>
          </a:p>
        </p:txBody>
      </p:sp>
    </p:spTree>
  </p:cSld>
  <p:transition spd="fast" advClick="1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SENSITIVITY TO COUNTING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Superseded records softened the reported falls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85305"/>
          <a:ext cx="10972526" cy="914400"/>
        </p:xfrm>
        <a:graphic>
          <a:graphicData uri="http://schemas.openxmlformats.org/drawingml/2006/table">
            <a:tbl>
              <a:tblPr/>
              <a:tblGrid>
                <a:gridCol w="1426333"/>
                <a:gridCol w="1755533"/>
                <a:gridCol w="1645799"/>
                <a:gridCol w="2194465"/>
                <a:gridCol w="1865266"/>
                <a:gridCol w="2085129"/>
              </a:tblGrid>
              <a:tr h="723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City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Q2 2025 baseline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Q2 2026 raw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Superseded records removed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Adjusted Q2 2026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Raw → adjusted change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587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Chennai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17,444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17,086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970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16,116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−2.1% → </a:t>
                      </a:r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−7.6%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5524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Jaipur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9,136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8,655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494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8,161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−5.3% → </a:t>
                      </a:r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−10.7%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5384800"/>
            <a:ext cx="10972526" cy="863600"/>
          </a:xfrm>
          <a:prstGeom prst="roundRect">
            <a:avLst>
              <a:gd name="adj" fmla="val 3750"/>
            </a:avLst>
          </a:prstGeom>
          <a:solidFill>
            <a:srgbClr val="FFF3D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25479" y="5654675"/>
            <a:ext cx="1115032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Counting differences softened the reported falls; they did not explain all of either decline.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07</a:t>
            </a:r>
            <a:endParaRPr lang="en-US" sz="1100" dirty="0"/>
          </a:p>
        </p:txBody>
      </p:sp>
    </p:spTree>
  </p:cSld>
  <p:transition spd="fast" advClick="1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WHAT THE EVIDENCE CAN AND CANNOT SAY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Patient counts fell; the evidence does not say why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263080"/>
            <a:ext cx="5333867" cy="4254500"/>
          </a:xfrm>
          <a:prstGeom prst="roundRect">
            <a:avLst>
              <a:gd name="adj" fmla="val 761"/>
            </a:avLst>
          </a:prstGeom>
          <a:solidFill>
            <a:srgbClr val="E8F1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38179" y="2340233"/>
            <a:ext cx="510527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ACTIVITY SPLIT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2638306"/>
            <a:ext cx="487667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4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Chennai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179" y="3212902"/>
            <a:ext cx="487667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Patients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−8.3%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Visits per patient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+0.8%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Tests per visit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+2.8%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8179" y="4363839"/>
            <a:ext cx="4876678" cy="31651"/>
          </a:xfrm>
          <a:prstGeom prst="roundRect">
            <a:avLst>
              <a:gd name="adj" fmla="val 49998"/>
            </a:avLst>
          </a:prstGeom>
          <a:solidFill>
            <a:srgbClr val="4B83E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38179" y="4649272"/>
            <a:ext cx="487667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4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Jaipur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8179" y="5223867"/>
            <a:ext cx="487667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Patients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−10.7%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Visits per patient about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0.0%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Tests per visit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+2.4%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8244" y="2491680"/>
            <a:ext cx="5333867" cy="1511300"/>
          </a:xfrm>
          <a:prstGeom prst="roundRect">
            <a:avLst>
              <a:gd name="adj" fmla="val 2143"/>
            </a:avLst>
          </a:prstGeom>
          <a:solidFill>
            <a:srgbClr val="FFF3D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64138" y="2761555"/>
            <a:ext cx="4902077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Jaipur’s decline was visible before the April 2026 Legacy-to-Nova move. 2,442 rows with slot date exactly two days before booking date were excluded.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4129980"/>
            <a:ext cx="5333867" cy="2159000"/>
          </a:xfrm>
          <a:prstGeom prst="roundRect">
            <a:avLst>
              <a:gd name="adj" fmla="val 1500"/>
            </a:avLst>
          </a:prstGeom>
          <a:solidFill>
            <a:srgbClr val="E3F6F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64138" y="4399855"/>
            <a:ext cx="4902077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1,311 rows had missing or invalid test codes. 21 Nova visits had no accepted test row. Lab-result rows grew 6.09% but are a separate cross-check. H1 growth is 5.01% with the excluded rows, 4.97% if counted as tests.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08</a:t>
            </a:r>
            <a:endParaRPr lang="en-US" sz="1100" dirty="0"/>
          </a:p>
        </p:txBody>
      </p:sp>
      <p:sp>
        <p:nvSpPr>
          <p:cNvPr id="16" name="Rounded Rectangle 15"/>
          <p:cNvSpPr/>
          <p:nvPr/>
        </p:nvSpPr>
        <p:spPr>
          <a:xfrm>
            <a:off x="609585" y="2263080"/>
            <a:ext cx="68580" cy="4254500"/>
          </a:xfrm>
          <a:prstGeom prst="roundRect">
            <a:avLst/>
          </a:prstGeom>
          <a:solidFill>
            <a:srgbClr val="4B8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8244" y="2491680"/>
            <a:ext cx="68580" cy="1511300"/>
          </a:xfrm>
          <a:prstGeom prst="roundRect">
            <a:avLst/>
          </a:prstGeom>
          <a:solidFill>
            <a:srgbClr val="D9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8244" y="4129980"/>
            <a:ext cx="68580" cy="2159000"/>
          </a:xfrm>
          <a:prstGeom prst="roundRect">
            <a:avLst/>
          </a:prstGeom>
          <a:solidFill>
            <a:srgbClr val="00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 advClick="1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>
              <a:alpha val="9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17572" y="915353"/>
            <a:ext cx="1045183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NEXT DECISION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7572" y="1242520"/>
            <a:ext cx="9842254" cy="167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dirty="0" b="1">
                <a:solidFill>
                  <a:srgbClr val="FFFFFF"/>
                </a:solidFill>
                <a:latin typeface="Aptos Display" pitchFamily="34" charset="0"/>
                <a:ea typeface="Rubik ExtraBold" pitchFamily="34" charset="-122"/>
                <a:cs typeface="Rubik ExtraBold" pitchFamily="34" charset="0"/>
              </a:rPr>
              <a:t>Reconcile the measure,</a:t>
            </a:r>
            <a:endParaRPr lang="en-US" sz="42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4200" dirty="0" b="1">
                <a:solidFill>
                  <a:srgbClr val="FFFFFF"/>
                </a:solidFill>
                <a:latin typeface="Aptos Display" pitchFamily="34" charset="0"/>
                <a:ea typeface="Rubik ExtraBold" pitchFamily="34" charset="-122"/>
                <a:cs typeface="Rubik ExtraBold" pitchFamily="34" charset="0"/>
              </a:rPr>
              <a:t>then investigate the patient decline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117572" y="3038177"/>
            <a:ext cx="2365316" cy="2605683"/>
          </a:xfrm>
          <a:prstGeom prst="rect">
            <a:avLst/>
          </a:prstGeom>
          <a:solidFill>
            <a:srgbClr val="E3F6F1"/>
          </a:solidFill>
          <a:ln w="25399">
            <a:solidFill>
              <a:srgbClr val="CDD0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566" y="3292177"/>
            <a:ext cx="83956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01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1371566" y="3616027"/>
            <a:ext cx="1857329" cy="19050"/>
          </a:xfrm>
          <a:prstGeom prst="rect">
            <a:avLst/>
          </a:prstGeom>
          <a:solidFill>
            <a:srgbClr val="00A89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566" y="3795673"/>
            <a:ext cx="185732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Reconcile city dashboards with booking-level visits.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09885" y="3038177"/>
            <a:ext cx="2365316" cy="2605683"/>
          </a:xfrm>
          <a:prstGeom prst="rect">
            <a:avLst/>
          </a:prstGeom>
          <a:solidFill>
            <a:srgbClr val="E8F1FC"/>
          </a:solidFill>
          <a:ln w="25399">
            <a:solidFill>
              <a:srgbClr val="CDD0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63878" y="3292177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02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3863878" y="3616027"/>
            <a:ext cx="1857329" cy="19050"/>
          </a:xfrm>
          <a:prstGeom prst="rect">
            <a:avLst/>
          </a:prstGeom>
          <a:solidFill>
            <a:srgbClr val="4B83E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63878" y="3795673"/>
            <a:ext cx="1857329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Agree on consistent replacement and superseded-booking definitions.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02197" y="3038177"/>
            <a:ext cx="2365316" cy="2605683"/>
          </a:xfrm>
          <a:prstGeom prst="rect">
            <a:avLst/>
          </a:prstGeom>
          <a:solidFill>
            <a:srgbClr val="FFF3DD"/>
          </a:solidFill>
          <a:ln w="25399">
            <a:solidFill>
              <a:srgbClr val="CDD0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6191" y="3292177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03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356191" y="3616027"/>
            <a:ext cx="1857329" cy="19050"/>
          </a:xfrm>
          <a:prstGeom prst="rect">
            <a:avLst/>
          </a:prstGeom>
          <a:solidFill>
            <a:srgbClr val="D99A3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56191" y="3795673"/>
            <a:ext cx="185732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Verify whether the patient-count declines persist.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4510" y="3038177"/>
            <a:ext cx="2365316" cy="2605683"/>
          </a:xfrm>
          <a:prstGeom prst="rect">
            <a:avLst/>
          </a:prstGeom>
          <a:solidFill>
            <a:srgbClr val="F0ECFA"/>
          </a:solidFill>
          <a:ln w="25399">
            <a:solidFill>
              <a:srgbClr val="CDD0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48504" y="3292177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04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8848504" y="3616027"/>
            <a:ext cx="1857329" cy="19050"/>
          </a:xfrm>
          <a:prstGeom prst="rect">
            <a:avLst/>
          </a:prstGeom>
          <a:solidFill>
            <a:srgbClr val="7967C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48504" y="3795673"/>
            <a:ext cx="1857329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If they do, investigate with city teams before choosing city-specific actions.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572" y="5823248"/>
            <a:ext cx="1045183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Do not claim the vendor move caused the decline, or that this analysis identifies why patients fell. No financial cost estimate was provided.</a:t>
            </a:r>
            <a:endParaRPr lang="en-US" sz="1250" dirty="0"/>
          </a:p>
        </p:txBody>
      </p:sp>
    </p:spTree>
  </p:cSld>
  <p:transition spd="fast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Kalpa Health — Briefs A and B</dc:title>
  <dc:subject>Color refreshed deck with subtle fade transitions</dc:subject>
  <dc:creator/>
  <cp:lastModifiedBy/>
  <cp:revision>1</cp:revision>
  <dcterms:created xsi:type="dcterms:W3CDTF">2026-10-24T20:19:08Z</dcterms:created>
  <dcterms:modified xsi:type="dcterms:W3CDTF">2026-10-24T20:19:08Z</dcterms:modified>
</cp:coreProperties>
</file>