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1695" cy="6858000"/>
  <p:notesSz cx="6858000" cy="12191695"/>
  <p:embeddedFontLst>
    <p:embeddedFont>
      <p:font typeface="Assistant"/>
      <p:regular r:id="rId201314"/>
    </p:embeddedFont>
    <p:embeddedFont>
      <p:font typeface="Assistant SemiBold"/>
      <p:regular r:id="rId201315"/>
    </p:embeddedFont>
    <p:embeddedFont>
      <p:font typeface="Assistant Bold"/>
      <p:regular r:id="rId201316"/>
    </p:embeddedFont>
    <p:embeddedFont>
      <p:font typeface="Rubik SemiBold"/>
      <p:regular r:id="rId201317"/>
    </p:embeddedFont>
    <p:embeddedFont>
      <p:font typeface="Rubik Extra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201314" Type="http://schemas.openxmlformats.org/officeDocument/2006/relationships/font" Target="fonts/201314.fntdata"/><Relationship Id="rId201315" Type="http://schemas.openxmlformats.org/officeDocument/2006/relationships/font" Target="fonts/201315.fntdata"/><Relationship Id="rId201316" Type="http://schemas.openxmlformats.org/officeDocument/2006/relationships/font" Target="fonts/201316.fntdata"/><Relationship Id="rId201317" Type="http://schemas.openxmlformats.org/officeDocument/2006/relationships/font" Target="fonts/201317.fntdata"/><Relationship Id="rId201318" Type="http://schemas.openxmlformats.org/officeDocument/2006/relationships/font" Target="fonts/201318.fntdata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2-2.png"/><Relationship Id="rId2" Type="http://schemas.openxmlformats.org/officeDocument/2006/relationships/hyperlink" Target="https://gamma.app/?utm_source=made-with-gamma" TargetMode="External"/><Relationship Id="rId3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04-1.jpeg"/><Relationship Id="rId2" Type="http://schemas.openxmlformats.org/officeDocument/2006/relationships/image" Target="../media/image-1002-2.png"/><Relationship Id="rId3" Type="http://schemas.openxmlformats.org/officeDocument/2006/relationships/hyperlink" Target="https://gamma.app/?utm_source=made-with-gamma" TargetMode="External"/><Relationship Id="rId4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3">
    <p:bg>
      <p:bgPr>
        <a:solidFill>
          <a:srgbClr val="F9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28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>
              <a:alpha val="88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42971" y="1270953"/>
            <a:ext cx="8559586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KALPA HEALTH · BOARD BRIEF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42971" y="1626677"/>
            <a:ext cx="7950001" cy="38401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7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H1 growth missed plan,</a:t>
            </a:r>
            <a:endParaRPr lang="en-US" sz="72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7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and two cities declined in Q2</a:t>
            </a:r>
            <a:endParaRPr lang="en-US" sz="7200" dirty="0"/>
          </a:p>
        </p:txBody>
      </p:sp>
      <p:sp>
        <p:nvSpPr>
          <p:cNvPr id="5" name="Text 3"/>
          <p:cNvSpPr/>
          <p:nvPr/>
        </p:nvSpPr>
        <p:spPr>
          <a:xfrm>
            <a:off x="1142971" y="5617468"/>
            <a:ext cx="7950001" cy="762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Investigate why booked tests grew </a:t>
            </a:r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5.01%</a:t>
            </a:r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in H1 2026 versus an </a:t>
            </a:r>
            <a:pPr algn="l" indent="0" marL="0">
              <a:lnSpc>
                <a:spcPct val="125000"/>
              </a:lnSpc>
              <a:buNone/>
            </a:pPr>
            <a:r>
              <a:rPr lang="en-US" sz="2000" b="1" dirty="0">
                <a:solidFill>
                  <a:srgbClr val="FFFFFF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18%</a:t>
            </a:r>
            <a:pPr algn="l" indent="0" marL="0">
              <a:lnSpc>
                <a:spcPct val="125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 xml:space="preserve"> plan. Next: validate the Chennai and Jaipur patient decline.</a:t>
            </a:r>
            <a:endParaRPr lang="en-US" sz="2000" dirty="0"/>
          </a:p>
        </p:txBody>
      </p:sp>
      <p:sp>
        <p:nvSpPr>
          <p:cNvPr id="6" name="Oval 5"/>
          <p:cNvSpPr/>
          <p:nvPr/>
        </p:nvSpPr>
        <p:spPr>
          <a:xfrm>
            <a:off x="10195560" y="1143000"/>
            <a:ext cx="841248" cy="841248"/>
          </a:xfrm>
          <a:prstGeom prst="ellipse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10927080" y="2148840"/>
            <a:ext cx="384048" cy="384048"/>
          </a:xfrm>
          <a:prstGeom prst="ellipse">
            <a:avLst/>
          </a:prstGeom>
          <a:solidFill>
            <a:srgbClr val="D9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10012680" y="2743200"/>
            <a:ext cx="310896" cy="310896"/>
          </a:xfrm>
          <a:prstGeom prst="ellipse">
            <a:avLst/>
          </a:prstGeom>
          <a:solidFill>
            <a:srgbClr val="E9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10652760" y="4069080"/>
            <a:ext cx="603504" cy="603504"/>
          </a:xfrm>
          <a:prstGeom prst="ellipse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THE BOARD DECISION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Focus on patient recovery; validate causes before scaling spend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98005"/>
            <a:ext cx="3572877" cy="2433836"/>
          </a:xfrm>
          <a:prstGeom prst="rect">
            <a:avLst/>
          </a:prstGeom>
          <a:solidFill>
            <a:srgbClr val="E8F1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3578" y="2552958"/>
            <a:ext cx="331888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GROWTH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63578" y="2863190"/>
            <a:ext cx="306489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 b="1">
                <a:solidFill>
                  <a:srgbClr val="4B83E6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+5.01%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863578" y="3506291"/>
            <a:ext cx="306489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H1 booked tests rose from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435,008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to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456,788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, versus an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18%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 plan.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309359" y="2298005"/>
            <a:ext cx="3572976" cy="2433836"/>
          </a:xfrm>
          <a:prstGeom prst="rect">
            <a:avLst/>
          </a:prstGeom>
          <a:solidFill>
            <a:srgbClr val="FCEBE7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4563353" y="2552958"/>
            <a:ext cx="331898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CITIES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4563353" y="2863190"/>
            <a:ext cx="3064989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 b="1">
                <a:solidFill>
                  <a:srgbClr val="E9715E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−7.6% · −10.7%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4563353" y="3506291"/>
            <a:ext cx="3064989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Adjusted Q2 bookings fell in Chennai and Jaipur; four Legacy cities grew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2.1%</a:t>
            </a:r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.</a:t>
            </a:r>
            <a:endParaRPr lang="en-US" sz="1700" dirty="0"/>
          </a:p>
        </p:txBody>
      </p:sp>
      <p:sp>
        <p:nvSpPr>
          <p:cNvPr id="12" name="Shape 10"/>
          <p:cNvSpPr/>
          <p:nvPr/>
        </p:nvSpPr>
        <p:spPr>
          <a:xfrm>
            <a:off x="8009233" y="2298005"/>
            <a:ext cx="3572877" cy="2433836"/>
          </a:xfrm>
          <a:prstGeom prst="rect">
            <a:avLst/>
          </a:prstGeom>
          <a:solidFill>
            <a:srgbClr val="E3F6F1"/>
          </a:solidFill>
          <a:ln/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8263227" y="2552958"/>
            <a:ext cx="3318883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MEASUREMENT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263227" y="2863190"/>
            <a:ext cx="3064890" cy="4469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3000" dirty="0" b="1">
                <a:solidFill>
                  <a:srgbClr val="00A892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The count gap is partial</a:t>
            </a:r>
            <a:endParaRPr lang="en-US" sz="3200" dirty="0"/>
          </a:p>
        </p:txBody>
      </p:sp>
      <p:sp>
        <p:nvSpPr>
          <p:cNvPr id="15" name="Text 13"/>
          <p:cNvSpPr/>
          <p:nvPr/>
        </p:nvSpPr>
        <p:spPr>
          <a:xfrm>
            <a:off x="8263227" y="3506291"/>
            <a:ext cx="3064890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Comparable counts still show declines in both cities; the four-city peer group grew.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609585" y="6027738"/>
            <a:ext cx="115821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Proceed with a targeted 30-day review; scale only after city drivers and pilot economics are clear.</a:t>
            </a:r>
            <a:endParaRPr lang="en-US" sz="1250" dirty="0"/>
          </a:p>
        </p:txBody>
      </p:sp>
      <p:sp>
        <p:nvSpPr>
          <p:cNvPr id="17" name="Text 15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02</a:t>
            </a:r>
            <a:endParaRPr lang="en-US" sz="1100" dirty="0"/>
          </a:p>
        </p:txBody>
      </p:sp>
      <p:sp>
        <p:nvSpPr>
          <p:cNvPr id="18" name="Rounded Rectangle 17"/>
          <p:cNvSpPr/>
          <p:nvPr/>
        </p:nvSpPr>
        <p:spPr>
          <a:xfrm>
            <a:off x="612648" y="2295144"/>
            <a:ext cx="68580" cy="2432304"/>
          </a:xfrm>
          <a:prstGeom prst="roundRect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ounded Rectangle 18"/>
          <p:cNvSpPr/>
          <p:nvPr/>
        </p:nvSpPr>
        <p:spPr>
          <a:xfrm>
            <a:off x="4306824" y="2295144"/>
            <a:ext cx="68580" cy="2432304"/>
          </a:xfrm>
          <a:prstGeom prst="roundRect">
            <a:avLst/>
          </a:prstGeom>
          <a:solidFill>
            <a:srgbClr val="E9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8010144" y="2295144"/>
            <a:ext cx="68580" cy="2432304"/>
          </a:xfrm>
          <a:prstGeom prst="roundRect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BOARD RESPONSE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Turn evidence into a focused 30-day city plan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85305"/>
            <a:ext cx="2092868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63578" y="2539305"/>
            <a:ext cx="83956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01</a:t>
            </a:r>
            <a:endParaRPr lang="en-US" sz="1850" dirty="0"/>
          </a:p>
        </p:txBody>
      </p:sp>
      <p:sp>
        <p:nvSpPr>
          <p:cNvPr id="6" name="Shape 4"/>
          <p:cNvSpPr/>
          <p:nvPr/>
        </p:nvSpPr>
        <p:spPr>
          <a:xfrm>
            <a:off x="863578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7" name="Text 5"/>
          <p:cNvSpPr/>
          <p:nvPr/>
        </p:nvSpPr>
        <p:spPr>
          <a:xfrm>
            <a:off x="863578" y="3042801"/>
            <a:ext cx="1584881" cy="639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Start with the city scorecard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2829450" y="2285305"/>
            <a:ext cx="2092868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083443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02</a:t>
            </a:r>
            <a:endParaRPr lang="en-US" sz="1850" dirty="0"/>
          </a:p>
        </p:txBody>
      </p:sp>
      <p:sp>
        <p:nvSpPr>
          <p:cNvPr id="10" name="Shape 8"/>
          <p:cNvSpPr/>
          <p:nvPr/>
        </p:nvSpPr>
        <p:spPr>
          <a:xfrm>
            <a:off x="3083443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1" name="Text 9"/>
          <p:cNvSpPr/>
          <p:nvPr/>
        </p:nvSpPr>
        <p:spPr>
          <a:xfrm>
            <a:off x="3083443" y="3042801"/>
            <a:ext cx="1584881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Track patients, visits and tests</a:t>
            </a:r>
            <a:endParaRPr lang="en-US" sz="1800" dirty="0"/>
          </a:p>
        </p:txBody>
      </p:sp>
      <p:sp>
        <p:nvSpPr>
          <p:cNvPr id="12" name="Shape 10"/>
          <p:cNvSpPr/>
          <p:nvPr/>
        </p:nvSpPr>
        <p:spPr>
          <a:xfrm>
            <a:off x="5049314" y="2285305"/>
            <a:ext cx="2092967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13" name="Text 11"/>
          <p:cNvSpPr/>
          <p:nvPr/>
        </p:nvSpPr>
        <p:spPr>
          <a:xfrm>
            <a:off x="5303308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03</a:t>
            </a:r>
            <a:endParaRPr lang="en-US" sz="1850" dirty="0"/>
          </a:p>
        </p:txBody>
      </p:sp>
      <p:sp>
        <p:nvSpPr>
          <p:cNvPr id="14" name="Shape 12"/>
          <p:cNvSpPr/>
          <p:nvPr/>
        </p:nvSpPr>
        <p:spPr>
          <a:xfrm>
            <a:off x="5303308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5303308" y="3042801"/>
            <a:ext cx="1584980" cy="191988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Prioritize Chennai, Bengaluru and Jaipur</a:t>
            </a:r>
            <a:endParaRPr lang="en-US" sz="1800" dirty="0"/>
          </a:p>
        </p:txBody>
      </p:sp>
      <p:sp>
        <p:nvSpPr>
          <p:cNvPr id="16" name="Shape 14"/>
          <p:cNvSpPr/>
          <p:nvPr/>
        </p:nvSpPr>
        <p:spPr>
          <a:xfrm>
            <a:off x="7269278" y="2285305"/>
            <a:ext cx="2092868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17" name="Text 15"/>
          <p:cNvSpPr/>
          <p:nvPr/>
        </p:nvSpPr>
        <p:spPr>
          <a:xfrm>
            <a:off x="7523272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04</a:t>
            </a:r>
            <a:endParaRPr lang="en-US" sz="1850" dirty="0"/>
          </a:p>
        </p:txBody>
      </p:sp>
      <p:sp>
        <p:nvSpPr>
          <p:cNvPr id="18" name="Shape 16"/>
          <p:cNvSpPr/>
          <p:nvPr/>
        </p:nvSpPr>
        <p:spPr>
          <a:xfrm>
            <a:off x="7523272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19" name="Text 17"/>
          <p:cNvSpPr/>
          <p:nvPr/>
        </p:nvSpPr>
        <p:spPr>
          <a:xfrm>
            <a:off x="7523272" y="3042801"/>
            <a:ext cx="1584881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Diagnose acquisition and retention gaps</a:t>
            </a:r>
            <a:endParaRPr lang="en-US" sz="1800" dirty="0"/>
          </a:p>
        </p:txBody>
      </p:sp>
      <p:sp>
        <p:nvSpPr>
          <p:cNvPr id="20" name="Shape 18"/>
          <p:cNvSpPr/>
          <p:nvPr/>
        </p:nvSpPr>
        <p:spPr>
          <a:xfrm>
            <a:off x="9489143" y="2285305"/>
            <a:ext cx="2092967" cy="2925663"/>
          </a:xfrm>
          <a:prstGeom prst="rect">
            <a:avLst/>
          </a:prstGeom>
          <a:solidFill>
            <a:srgbClr val="FFFFFF"/>
          </a:solidFill>
          <a:ln w="12700">
            <a:solidFill>
              <a:srgbClr val="D9E5EF"/>
            </a:solidFill>
            <a:prstDash val="solid"/>
          </a:ln>
        </p:spPr>
        <p:txBody>
          <a:bodyPr/>
          <a:p/>
        </p:txBody>
      </p:sp>
      <p:sp>
        <p:nvSpPr>
          <p:cNvPr id="21" name="Text 19"/>
          <p:cNvSpPr/>
          <p:nvPr/>
        </p:nvSpPr>
        <p:spPr>
          <a:xfrm>
            <a:off x="9743137" y="2539305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05</a:t>
            </a:r>
            <a:endParaRPr lang="en-US" sz="1850" dirty="0"/>
          </a:p>
        </p:txBody>
      </p:sp>
      <p:sp>
        <p:nvSpPr>
          <p:cNvPr id="22" name="Shape 20"/>
          <p:cNvSpPr/>
          <p:nvPr/>
        </p:nvSpPr>
        <p:spPr>
          <a:xfrm>
            <a:off x="9743137" y="2863155"/>
            <a:ext cx="1584881" cy="19050"/>
          </a:xfrm>
          <a:prstGeom prst="rect">
            <a:avLst/>
          </a:prstGeom>
          <a:solidFill>
            <a:srgbClr val="0E7C86"/>
          </a:solidFill>
          <a:ln/>
        </p:spPr>
        <p:txBody>
          <a:bodyPr/>
          <a:p/>
        </p:txBody>
      </p:sp>
      <p:sp>
        <p:nvSpPr>
          <p:cNvPr id="23" name="Text 21"/>
          <p:cNvSpPr/>
          <p:nvPr/>
        </p:nvSpPr>
        <p:spPr>
          <a:xfrm>
            <a:off x="9743137" y="3042801"/>
            <a:ext cx="1584980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Build costed city pilots with clear measures</a:t>
            </a:r>
            <a:endParaRPr lang="en-US" sz="1800" dirty="0"/>
          </a:p>
        </p:txBody>
      </p:sp>
      <p:sp>
        <p:nvSpPr>
          <p:cNvPr id="24" name="Shape 22"/>
          <p:cNvSpPr/>
          <p:nvPr/>
        </p:nvSpPr>
        <p:spPr>
          <a:xfrm>
            <a:off x="609585" y="5404644"/>
            <a:ext cx="10972526" cy="1187450"/>
          </a:xfrm>
          <a:prstGeom prst="roundRect">
            <a:avLst>
              <a:gd name="adj" fmla="val 2727"/>
            </a:avLst>
          </a:prstGeom>
          <a:solidFill>
            <a:srgbClr val="E8F1FC"/>
          </a:solidFill>
          <a:ln/>
        </p:spPr>
        <p:txBody>
          <a:bodyPr/>
          <a:p/>
        </p:txBody>
      </p:sp>
      <p:sp>
        <p:nvSpPr>
          <p:cNvPr id="25" name="Text 23"/>
          <p:cNvSpPr/>
          <p:nvPr/>
        </p:nvSpPr>
        <p:spPr>
          <a:xfrm>
            <a:off x="825479" y="5674519"/>
            <a:ext cx="10540736" cy="6477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500" b="0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30-day plan.</a:t>
            </a:r>
            <a:pPr algn="l" indent="0" marL="0">
              <a:lnSpc>
                <a:spcPct val="125000"/>
              </a:lnSpc>
              <a:buNone/>
            </a:pPr>
            <a:r>
              <a:rPr lang="en-US" sz="1500" dirty="0" b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 xml:space="preserve"> Validate patient decline, locate drop-off, return with costed pilots and owners; no broad spend yet.</a:t>
            </a:r>
            <a:endParaRPr lang="en-US" sz="1700" dirty="0"/>
          </a:p>
        </p:txBody>
      </p:sp>
      <p:sp>
        <p:nvSpPr>
          <p:cNvPr id="26" name="Text 2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03</a:t>
            </a:r>
            <a:endParaRPr lang="en-US" sz="1100" dirty="0"/>
          </a:p>
        </p:txBody>
      </p:sp>
      <p:sp>
        <p:nvSpPr>
          <p:cNvPr id="27" name="Rounded Rectangle 26"/>
          <p:cNvSpPr/>
          <p:nvPr/>
        </p:nvSpPr>
        <p:spPr>
          <a:xfrm>
            <a:off x="612648" y="2286000"/>
            <a:ext cx="82296" cy="2926080"/>
          </a:xfrm>
          <a:prstGeom prst="roundRect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2825496" y="2286000"/>
            <a:ext cx="82296" cy="2926080"/>
          </a:xfrm>
          <a:prstGeom prst="roundRect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5047488" y="2286000"/>
            <a:ext cx="82296" cy="2926080"/>
          </a:xfrm>
          <a:prstGeom prst="roundRect">
            <a:avLst/>
          </a:prstGeom>
          <a:solidFill>
            <a:srgbClr val="D9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ounded Rectangle 29"/>
          <p:cNvSpPr/>
          <p:nvPr/>
        </p:nvSpPr>
        <p:spPr>
          <a:xfrm>
            <a:off x="7269480" y="2286000"/>
            <a:ext cx="82296" cy="2926080"/>
          </a:xfrm>
          <a:prstGeom prst="roundRect">
            <a:avLst/>
          </a:prstGeom>
          <a:solidFill>
            <a:srgbClr val="7967C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ounded Rectangle 30"/>
          <p:cNvSpPr/>
          <p:nvPr/>
        </p:nvSpPr>
        <p:spPr>
          <a:xfrm>
            <a:off x="9491472" y="2286000"/>
            <a:ext cx="82296" cy="2926080"/>
          </a:xfrm>
          <a:prstGeom prst="roundRect">
            <a:avLst/>
          </a:prstGeom>
          <a:solidFill>
            <a:srgbClr val="E97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H1 GROWTH DECOMPOSITION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Patient gains led; lower visit frequency partly offset growth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196405"/>
            <a:ext cx="9927481" cy="361940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903119"/>
            <a:ext cx="11582110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The factors combine multiplicatively; do not multiply the percentage changes directly.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04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PLAN SHORTFALL · H1 2026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Start city diagnosis where the plan gap is largest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63080"/>
            <a:ext cx="10413739" cy="35560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906393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Chennai, Bengaluru, and Jaipur contribute 64.8% combined. All six cities were below their H1 2026 plans.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05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CITY COMPARISON · ADJUSTED BOOKINGS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Chennai and Jaipur fell while Legacy peers grew</a:t>
            </a:r>
            <a:endParaRPr lang="en-US" sz="40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09585" y="2263080"/>
            <a:ext cx="10413739" cy="353060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609585" y="5880993"/>
            <a:ext cx="10972526" cy="330200"/>
          </a:xfrm>
          <a:prstGeom prst="rect">
            <a:avLst/>
          </a:prstGeom>
          <a:noFill/>
          <a:ln/>
        </p:spPr>
        <p:txBody>
          <a:bodyPr wrap="square" lIns="0" tIns="101598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Q2 2025 → Q2 2026. Chennai: 17,444 → 16,116; Jaipur: 9,136 → 8,161.</a:t>
            </a:r>
            <a:endParaRPr lang="en-US" sz="1250" dirty="0"/>
          </a:p>
        </p:txBody>
      </p:sp>
      <p:sp>
        <p:nvSpPr>
          <p:cNvPr id="6" name="Text 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06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COUNT RECONCILIATION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Reconciliation changes the size of the dip, not direction</a:t>
            </a:r>
            <a:endParaRPr lang="en-US" sz="40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285305"/>
          <a:ext cx="10972526" cy="914400"/>
        </p:xfrm>
        <a:graphic>
          <a:graphicData uri="http://schemas.openxmlformats.org/drawingml/2006/table">
            <a:tbl>
              <a:tblPr/>
              <a:tblGrid>
                <a:gridCol w="1426333"/>
                <a:gridCol w="1755533"/>
                <a:gridCol w="1645799"/>
                <a:gridCol w="2194465"/>
                <a:gridCol w="1865266"/>
                <a:gridCol w="2085129"/>
              </a:tblGrid>
              <a:tr h="72388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City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Q2 2025 baseline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Reported Q2 2026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Count variance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Comparable Q2 2026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 b="1">
                          <a:solidFill>
                            <a:srgbClr val="FFFFFF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Raw → adjusted change</a:t>
                      </a:r>
                      <a:endParaRPr lang="en-US" sz="125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324D"/>
                    </a:solidFill>
                  </a:tcPr>
                </a:tc>
              </a:tr>
              <a:tr h="55878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Chennai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17,444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17,086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970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16,116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−2.1% → </a:t>
                      </a:r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−7.6%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F1FC"/>
                    </a:solidFill>
                  </a:tcPr>
                </a:tc>
              </a:tr>
              <a:tr h="552436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Jaipur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9,136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8,655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494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8,161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3F6F1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300" dirty="0" b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−5.3% → </a:t>
                      </a:r>
                      <a:pPr algn="l" indent="0" marL="0">
                        <a:buNone/>
                      </a:pPr>
                      <a:r>
                        <a:rPr lang="en-US" sz="1300" b="0" dirty="0">
                          <a:solidFill>
                            <a:srgbClr val="18344A"/>
                          </a:solidFill>
                          <a:latin typeface="Aptos" pitchFamily="34" charset="0"/>
                          <a:ea typeface="Assistant" pitchFamily="34" charset="-122"/>
                          <a:cs typeface="Assistant" pitchFamily="34" charset="0"/>
                        </a:rPr>
                        <a:t>−10.7%</a:t>
                      </a:r>
                      <a:endParaRPr lang="en-US" sz="1700" dirty="0">
                        <a:latin typeface="Assistant" charset="0"/>
                        <a:ea typeface="Assistant" charset="0"/>
                        <a:cs typeface="Assistant" charset="0"/>
                      </a:endParaRPr>
                    </a:p>
                  </a:txBody>
                  <a:tcPr marL="126997" marR="126997" marT="114297" marB="114297" anchor="ctr">
                    <a:lnL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1B2632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9FAF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09585" y="5384800"/>
            <a:ext cx="10972526" cy="863600"/>
          </a:xfrm>
          <a:prstGeom prst="roundRect">
            <a:avLst>
              <a:gd name="adj" fmla="val 3750"/>
            </a:avLst>
          </a:prstGeom>
          <a:solidFill>
            <a:srgbClr val="FFF3DD"/>
          </a:solidFill>
          <a:ln/>
        </p:spPr>
        <p:txBody>
          <a:bodyPr/>
          <a:p/>
        </p:txBody>
      </p:sp>
      <p:sp>
        <p:nvSpPr>
          <p:cNvPr id="6" name="Text 3"/>
          <p:cNvSpPr/>
          <p:nvPr/>
        </p:nvSpPr>
        <p:spPr>
          <a:xfrm>
            <a:off x="825479" y="5654675"/>
            <a:ext cx="11150321" cy="3238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Reconciled counts remain below Q2 2025: Chennai −7.6%, Jaipur −10.7%; Legacy peers +2.1%.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07</a:t>
            </a:r>
            <a:endParaRPr lang="en-US" sz="1100" dirty="0"/>
          </a:p>
        </p:txBody>
      </p:sp>
    </p:spTree>
  </p:cSld>
  <p:transition spd="fast" advClick="1">
    <p:fade/>
  </p:transition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553"/>
            <a:ext cx="11582110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 b="1">
                <a:solidFill>
                  <a:srgbClr val="00A892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PATIENT VOLUME IS THE LEAD SIGNAL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09585" y="910909"/>
            <a:ext cx="10972526" cy="11684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6000"/>
              </a:lnSpc>
              <a:buNone/>
            </a:pPr>
            <a:r>
              <a:rPr lang="en-US" sz="3300" dirty="0" b="1">
                <a:solidFill>
                  <a:srgbClr val="17324D"/>
                </a:solidFill>
                <a:latin typeface="Aptos Display" pitchFamily="34" charset="0"/>
                <a:ea typeface="Rubik SemiBold" pitchFamily="34" charset="-122"/>
                <a:cs typeface="Rubik SemiBold" pitchFamily="34" charset="0"/>
              </a:rPr>
              <a:t>Patient losses lead; local causes still need diagnosis</a:t>
            </a:r>
            <a:endParaRPr lang="en-US" sz="4000" dirty="0"/>
          </a:p>
        </p:txBody>
      </p:sp>
      <p:sp>
        <p:nvSpPr>
          <p:cNvPr id="4" name="Shape 2"/>
          <p:cNvSpPr/>
          <p:nvPr/>
        </p:nvSpPr>
        <p:spPr>
          <a:xfrm>
            <a:off x="609585" y="2263080"/>
            <a:ext cx="5333867" cy="4254500"/>
          </a:xfrm>
          <a:prstGeom prst="roundRect">
            <a:avLst>
              <a:gd name="adj" fmla="val 761"/>
            </a:avLst>
          </a:prstGeom>
          <a:solidFill>
            <a:srgbClr val="E8F1FC"/>
          </a:solidFill>
          <a:ln/>
        </p:spPr>
        <p:txBody>
          <a:bodyPr/>
          <a:p/>
        </p:txBody>
      </p:sp>
      <p:sp>
        <p:nvSpPr>
          <p:cNvPr id="5" name="Text 3"/>
          <p:cNvSpPr/>
          <p:nvPr/>
        </p:nvSpPr>
        <p:spPr>
          <a:xfrm>
            <a:off x="838179" y="2340233"/>
            <a:ext cx="5105272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5B7184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ACTIVITY SPLIT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838179" y="2638306"/>
            <a:ext cx="487667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Chennai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838179" y="3212902"/>
            <a:ext cx="487667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Patients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−8.3%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Visits per patient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+0.8%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Tests per visit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+2.8%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838179" y="4363839"/>
            <a:ext cx="4876678" cy="31651"/>
          </a:xfrm>
          <a:prstGeom prst="roundRect">
            <a:avLst>
              <a:gd name="adj" fmla="val 49998"/>
            </a:avLst>
          </a:prstGeom>
          <a:solidFill>
            <a:srgbClr val="4B83E6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838179" y="4649272"/>
            <a:ext cx="4876678" cy="4266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24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Jaipur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838179" y="5223867"/>
            <a:ext cx="4876678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Patients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−10.7%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Visits per patient about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0.0%</a:t>
            </a:r>
            <a:endParaRPr lang="en-US" sz="17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Tests per visit </a:t>
            </a:r>
            <a:pPr algn="l" indent="0" marL="0">
              <a:lnSpc>
                <a:spcPct val="125000"/>
              </a:lnSpc>
              <a:buNone/>
            </a:pPr>
            <a:r>
              <a:rPr lang="en-US" sz="1700" b="1" dirty="0">
                <a:solidFill>
                  <a:srgbClr val="18344A"/>
                </a:solidFill>
                <a:latin typeface="Aptos" pitchFamily="34" charset="0"/>
                <a:ea typeface="Assistant Bold" pitchFamily="34" charset="-122"/>
                <a:cs typeface="Assistant Bold" pitchFamily="34" charset="0"/>
              </a:rPr>
              <a:t>+2.4%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6248244" y="2491680"/>
            <a:ext cx="5333867" cy="1511300"/>
          </a:xfrm>
          <a:prstGeom prst="roundRect">
            <a:avLst>
              <a:gd name="adj" fmla="val 2143"/>
            </a:avLst>
          </a:prstGeom>
          <a:solidFill>
            <a:srgbClr val="FFF3DD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464138" y="2761555"/>
            <a:ext cx="4902077" cy="9715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Jaipur’s decline was visible before the April 2026 system move. The transition cannot be the sole explanation.</a:t>
            </a:r>
            <a:endParaRPr lang="en-US" sz="1700" dirty="0"/>
          </a:p>
        </p:txBody>
      </p:sp>
      <p:sp>
        <p:nvSpPr>
          <p:cNvPr id="13" name="Shape 11"/>
          <p:cNvSpPr/>
          <p:nvPr/>
        </p:nvSpPr>
        <p:spPr>
          <a:xfrm>
            <a:off x="6248244" y="4129980"/>
            <a:ext cx="5333867" cy="2159000"/>
          </a:xfrm>
          <a:prstGeom prst="roundRect">
            <a:avLst>
              <a:gd name="adj" fmla="val 1500"/>
            </a:avLst>
          </a:prstGeom>
          <a:solidFill>
            <a:srgbClr val="E3F6F1"/>
          </a:solidFill>
          <a:ln/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464138" y="4399855"/>
            <a:ext cx="4902077" cy="161925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7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Management read-through: patient counts fell while per-patient activity was flat or higher. Start with acquisition and retention diagnostics, not a blanket repeat-frequency fix.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1843247" y="6448425"/>
            <a:ext cx="348448" cy="209550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100" spc="44" kern="100" dirty="0">
                <a:solidFill>
                  <a:srgbClr val="5B7184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08</a:t>
            </a:r>
            <a:endParaRPr lang="en-US" sz="1100" dirty="0"/>
          </a:p>
        </p:txBody>
      </p:sp>
      <p:sp>
        <p:nvSpPr>
          <p:cNvPr id="16" name="Rounded Rectangle 15"/>
          <p:cNvSpPr/>
          <p:nvPr/>
        </p:nvSpPr>
        <p:spPr>
          <a:xfrm>
            <a:off x="609585" y="2263080"/>
            <a:ext cx="68580" cy="4254500"/>
          </a:xfrm>
          <a:prstGeom prst="roundRect">
            <a:avLst/>
          </a:prstGeom>
          <a:solidFill>
            <a:srgbClr val="4B83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ounded Rectangle 16"/>
          <p:cNvSpPr/>
          <p:nvPr/>
        </p:nvSpPr>
        <p:spPr>
          <a:xfrm>
            <a:off x="6248244" y="2491680"/>
            <a:ext cx="68580" cy="1511300"/>
          </a:xfrm>
          <a:prstGeom prst="roundRect">
            <a:avLst/>
          </a:prstGeom>
          <a:solidFill>
            <a:srgbClr val="D99A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248244" y="4129980"/>
            <a:ext cx="68580" cy="2159000"/>
          </a:xfrm>
          <a:prstGeom prst="roundRect">
            <a:avLst/>
          </a:prstGeom>
          <a:solidFill>
            <a:srgbClr val="00A89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transition spd="fast" advClick="1">
    <p:fade/>
  </p:transition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5F9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7324D">
              <a:alpha val="90000"/>
            </a:srgbClr>
          </a:solidFill>
          <a:ln>
            <a:noFill/>
          </a:ln>
        </p:spPr>
        <p:txBody>
          <a:bodyPr/>
          <a:p/>
        </p:txBody>
      </p:sp>
      <p:sp>
        <p:nvSpPr>
          <p:cNvPr id="3" name="Text 1"/>
          <p:cNvSpPr/>
          <p:nvPr/>
        </p:nvSpPr>
        <p:spPr>
          <a:xfrm>
            <a:off x="1117572" y="915353"/>
            <a:ext cx="10451839" cy="20568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RECOMMENDED BOARD ACTION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1117572" y="1242520"/>
            <a:ext cx="9842254" cy="16799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7000"/>
              </a:lnSpc>
              <a:buNone/>
            </a:pPr>
            <a:r>
              <a:rPr lang="en-US" sz="4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Start with a 30-day review,</a:t>
            </a:r>
            <a:endParaRPr lang="en-US" sz="4200" dirty="0"/>
          </a:p>
          <a:p>
            <a:pPr algn="l" indent="0" marL="0">
              <a:lnSpc>
                <a:spcPct val="87000"/>
              </a:lnSpc>
              <a:buNone/>
            </a:pPr>
            <a:r>
              <a:rPr lang="en-US" sz="4200" dirty="0" b="1">
                <a:solidFill>
                  <a:srgbClr val="FFFFFF"/>
                </a:solidFill>
                <a:latin typeface="Aptos Display" pitchFamily="34" charset="0"/>
                <a:ea typeface="Rubik ExtraBold" pitchFamily="34" charset="-122"/>
                <a:cs typeface="Rubik ExtraBold" pitchFamily="34" charset="0"/>
              </a:rPr>
              <a:t>then develop costed city pilots</a:t>
            </a:r>
            <a:endParaRPr lang="en-US" sz="4200" dirty="0"/>
          </a:p>
        </p:txBody>
      </p:sp>
      <p:sp>
        <p:nvSpPr>
          <p:cNvPr id="5" name="Shape 3"/>
          <p:cNvSpPr/>
          <p:nvPr/>
        </p:nvSpPr>
        <p:spPr>
          <a:xfrm>
            <a:off x="1117572" y="3038177"/>
            <a:ext cx="2365316" cy="2605683"/>
          </a:xfrm>
          <a:prstGeom prst="rect">
            <a:avLst/>
          </a:prstGeom>
          <a:solidFill>
            <a:srgbClr val="E3F6F1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1371566" y="3292177"/>
            <a:ext cx="839568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01</a:t>
            </a:r>
            <a:endParaRPr lang="en-US" sz="1850" dirty="0"/>
          </a:p>
        </p:txBody>
      </p:sp>
      <p:sp>
        <p:nvSpPr>
          <p:cNvPr id="7" name="Shape 5"/>
          <p:cNvSpPr/>
          <p:nvPr/>
        </p:nvSpPr>
        <p:spPr>
          <a:xfrm>
            <a:off x="1371566" y="3616027"/>
            <a:ext cx="1857329" cy="19050"/>
          </a:xfrm>
          <a:prstGeom prst="rect">
            <a:avLst/>
          </a:prstGeom>
          <a:solidFill>
            <a:srgbClr val="00A892"/>
          </a:solidFill>
          <a:ln/>
        </p:spPr>
        <p:txBody>
          <a:bodyPr/>
          <a:p/>
        </p:txBody>
      </p:sp>
      <p:sp>
        <p:nvSpPr>
          <p:cNvPr id="8" name="Text 6"/>
          <p:cNvSpPr/>
          <p:nvPr/>
        </p:nvSpPr>
        <p:spPr>
          <a:xfrm>
            <a:off x="1371566" y="3795673"/>
            <a:ext cx="1857329" cy="12799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Approve a 30-day patient review in Chennai and Jaipur.</a:t>
            </a:r>
            <a:endParaRPr lang="en-US" sz="1800" dirty="0"/>
          </a:p>
        </p:txBody>
      </p:sp>
      <p:sp>
        <p:nvSpPr>
          <p:cNvPr id="9" name="Shape 7"/>
          <p:cNvSpPr/>
          <p:nvPr/>
        </p:nvSpPr>
        <p:spPr>
          <a:xfrm>
            <a:off x="3609885" y="3038177"/>
            <a:ext cx="2365316" cy="2605683"/>
          </a:xfrm>
          <a:prstGeom prst="rect">
            <a:avLst/>
          </a:prstGeom>
          <a:solidFill>
            <a:srgbClr val="E8F1FC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10" name="Text 8"/>
          <p:cNvSpPr/>
          <p:nvPr/>
        </p:nvSpPr>
        <p:spPr>
          <a:xfrm>
            <a:off x="3863878" y="3292177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02</a:t>
            </a:r>
            <a:endParaRPr lang="en-US" sz="1850" dirty="0"/>
          </a:p>
        </p:txBody>
      </p:sp>
      <p:sp>
        <p:nvSpPr>
          <p:cNvPr id="11" name="Shape 9"/>
          <p:cNvSpPr/>
          <p:nvPr/>
        </p:nvSpPr>
        <p:spPr>
          <a:xfrm>
            <a:off x="3863878" y="3616027"/>
            <a:ext cx="1857329" cy="19050"/>
          </a:xfrm>
          <a:prstGeom prst="rect">
            <a:avLst/>
          </a:prstGeom>
          <a:solidFill>
            <a:srgbClr val="4B83E6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3863878" y="3795673"/>
            <a:ext cx="1857329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Reconcile city dashboards to one agreed visit definition.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102197" y="3038177"/>
            <a:ext cx="2365316" cy="2605683"/>
          </a:xfrm>
          <a:prstGeom prst="rect">
            <a:avLst/>
          </a:prstGeom>
          <a:solidFill>
            <a:srgbClr val="FFF3DD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14" name="Text 12"/>
          <p:cNvSpPr/>
          <p:nvPr/>
        </p:nvSpPr>
        <p:spPr>
          <a:xfrm>
            <a:off x="6356191" y="3292177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03</a:t>
            </a:r>
            <a:endParaRPr lang="en-US" sz="1850" dirty="0"/>
          </a:p>
        </p:txBody>
      </p:sp>
      <p:sp>
        <p:nvSpPr>
          <p:cNvPr id="15" name="Shape 13"/>
          <p:cNvSpPr/>
          <p:nvPr/>
        </p:nvSpPr>
        <p:spPr>
          <a:xfrm>
            <a:off x="6356191" y="3616027"/>
            <a:ext cx="1857329" cy="19050"/>
          </a:xfrm>
          <a:prstGeom prst="rect">
            <a:avLst/>
          </a:prstGeom>
          <a:solidFill>
            <a:srgbClr val="D99A36"/>
          </a:solidFill>
          <a:ln/>
        </p:spPr>
        <p:txBody>
          <a:bodyPr/>
          <a:p/>
        </p:txBody>
      </p:sp>
      <p:sp>
        <p:nvSpPr>
          <p:cNvPr id="16" name="Text 14"/>
          <p:cNvSpPr/>
          <p:nvPr/>
        </p:nvSpPr>
        <p:spPr>
          <a:xfrm>
            <a:off x="6356191" y="3795673"/>
            <a:ext cx="1857329" cy="9599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Separate new-patient loss from repeat-patient drop-off.</a:t>
            </a:r>
            <a:endParaRPr lang="en-US" sz="1800" dirty="0"/>
          </a:p>
        </p:txBody>
      </p:sp>
      <p:sp>
        <p:nvSpPr>
          <p:cNvPr id="17" name="Shape 15"/>
          <p:cNvSpPr/>
          <p:nvPr/>
        </p:nvSpPr>
        <p:spPr>
          <a:xfrm>
            <a:off x="8594510" y="3038177"/>
            <a:ext cx="2365316" cy="2605683"/>
          </a:xfrm>
          <a:prstGeom prst="rect">
            <a:avLst/>
          </a:prstGeom>
          <a:solidFill>
            <a:srgbClr val="F0ECFA"/>
          </a:solidFill>
          <a:ln w="25399">
            <a:solidFill>
              <a:srgbClr val="CDD0D6"/>
            </a:solidFill>
            <a:prstDash val="solid"/>
          </a:ln>
        </p:spPr>
        <p:txBody>
          <a:bodyPr/>
          <a:p/>
        </p:txBody>
      </p:sp>
      <p:sp>
        <p:nvSpPr>
          <p:cNvPr id="18" name="Text 16"/>
          <p:cNvSpPr/>
          <p:nvPr/>
        </p:nvSpPr>
        <p:spPr>
          <a:xfrm>
            <a:off x="8848504" y="3292177"/>
            <a:ext cx="849787" cy="2375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850" dirty="0">
                <a:solidFill>
                  <a:srgbClr val="18344A"/>
                </a:solidFill>
                <a:latin typeface="Aptos" pitchFamily="34" charset="0"/>
                <a:ea typeface="Assistant SemiBold" pitchFamily="34" charset="-122"/>
                <a:cs typeface="Assistant SemiBold" pitchFamily="34" charset="0"/>
              </a:rPr>
              <a:t>04</a:t>
            </a:r>
            <a:endParaRPr lang="en-US" sz="1850" dirty="0"/>
          </a:p>
        </p:txBody>
      </p:sp>
      <p:sp>
        <p:nvSpPr>
          <p:cNvPr id="19" name="Shape 17"/>
          <p:cNvSpPr/>
          <p:nvPr/>
        </p:nvSpPr>
        <p:spPr>
          <a:xfrm>
            <a:off x="8848504" y="3616027"/>
            <a:ext cx="1857329" cy="19050"/>
          </a:xfrm>
          <a:prstGeom prst="rect">
            <a:avLst/>
          </a:prstGeom>
          <a:solidFill>
            <a:srgbClr val="7967C9"/>
          </a:solidFill>
          <a:ln/>
        </p:spPr>
        <p:txBody>
          <a:bodyPr/>
          <a:p/>
        </p:txBody>
      </p:sp>
      <p:sp>
        <p:nvSpPr>
          <p:cNvPr id="20" name="Text 18"/>
          <p:cNvSpPr/>
          <p:nvPr/>
        </p:nvSpPr>
        <p:spPr>
          <a:xfrm>
            <a:off x="8848504" y="3795673"/>
            <a:ext cx="1857329" cy="15999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800" dirty="0">
                <a:solidFill>
                  <a:srgbClr val="18344A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Return with costed city pilots after confirming local drivers.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1117572" y="5823248"/>
            <a:ext cx="10451839" cy="222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Aptos" pitchFamily="34" charset="0"/>
                <a:ea typeface="Assistant" pitchFamily="34" charset="-122"/>
                <a:cs typeface="Assistant" pitchFamily="34" charset="0"/>
              </a:rPr>
              <a:t>The analysis locates the signal, not its cause. Jaipur declined before Nova. Costs are unestimated; avoid broad spend until pilots are defined.</a:t>
            </a:r>
            <a:endParaRPr lang="en-US" sz="1250" dirty="0"/>
          </a:p>
        </p:txBody>
      </p:sp>
    </p:spTree>
  </p:cSld>
  <p:transition spd="fast" advClick="1">
    <p:fade/>
  </p:transition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Kalpa Health — Briefs A and B</dc:title>
  <dc:subject>Color refreshed deck with subtle fade transitions</dc:subject>
  <dc:creator/>
  <cp:lastModifiedBy/>
  <cp:revision>1</cp:revision>
  <dcterms:created xsi:type="dcterms:W3CDTF">2026-10-24T20:19:08Z</dcterms:created>
  <dcterms:modified xsi:type="dcterms:W3CDTF">2026-10-24T20:19:08Z</dcterms:modified>
</cp:coreProperties>
</file>