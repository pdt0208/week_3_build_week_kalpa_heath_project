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KALPA HEALTH · BRIEFS A +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Growth improved, but fell well short of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D2DCEC"/>
                </a:solidFill>
                <a:latin typeface="Aptos"/>
              </a:rPr>
              <a:t>Two questions: what drove first-half growth, and are Chennai and Jaipur’s Q2 booking declines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D2DCEC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64922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96B82"/>
                </a:solidFill>
                <a:latin typeface="Aptos"/>
              </a:rPr>
              <a:t>H1 booked-test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24912"/>
            <a:ext cx="224028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EF6F6C"/>
                </a:solidFill>
                <a:latin typeface="Aptos"/>
              </a:rPr>
              <a:t>+5.01%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7472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07792"/>
            <a:ext cx="5486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596B82"/>
                </a:solidFill>
                <a:latin typeface="Aptos"/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724912"/>
            <a:ext cx="201168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4385F5"/>
                </a:solidFill>
                <a:latin typeface="Aptos"/>
              </a:rPr>
              <a:t>+18%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7472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5440680" cy="109728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794760"/>
            <a:ext cx="1517904" cy="109728"/>
          </a:xfrm>
          <a:prstGeom prst="roundRect">
            <a:avLst/>
          </a:prstGeom>
          <a:solidFill>
            <a:srgbClr val="EF6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794760"/>
            <a:ext cx="5440680" cy="10972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794760"/>
            <a:ext cx="1517904" cy="109728"/>
          </a:xfrm>
          <a:prstGeom prst="roundRect">
            <a:avLst/>
          </a:prstGeom>
          <a:solidFill>
            <a:srgbClr val="EF6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20" y="2057400"/>
            <a:ext cx="4206240" cy="2057400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44383" y="2331720"/>
            <a:ext cx="1115568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7536" y="2340863"/>
            <a:ext cx="96926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BRIEF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2761488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Q2 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2644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Chennai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218688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2200" b="1">
                <a:solidFill>
                  <a:srgbClr val="EF6F6C"/>
                </a:solidFill>
                <a:latin typeface="Aptos"/>
              </a:rPr>
              <a:t>−7.6%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657600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Jaipur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61188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2200" b="1">
                <a:solidFill>
                  <a:srgbClr val="EF6F6C"/>
                </a:solidFill>
                <a:latin typeface="Aptos"/>
              </a:rPr>
              <a:t>−10.7%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3968496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96B82"/>
                </a:solidFill>
                <a:latin typeface="Aptos"/>
              </a:rPr>
              <a:t>Question: demand, counting, or both?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68172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Finding in brief: patient counts fell in both cities; superseded Nova records softened the reported decline, but do not explain all of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A real growth gap and a real two-city signal—with a counting 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The evidence points to two issues to manage: growth below plan, and lower patient counts in Chennai and Jaipur.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82296" cy="1572768"/>
          </a:xfrm>
          <a:prstGeom prst="roundRect">
            <a:avLst/>
          </a:prstGeom>
          <a:solidFill>
            <a:srgbClr val="EF6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167128"/>
            <a:ext cx="304495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EF6F6C"/>
                </a:solidFill>
                <a:latin typeface="Aptos"/>
              </a:rPr>
              <a:t>+5.01%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679192"/>
            <a:ext cx="3044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H1 booked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044952"/>
            <a:ext cx="3044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96B82"/>
                </a:solidFill>
                <a:latin typeface="Aptos"/>
              </a:rPr>
              <a:t>Plan was +18%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1168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2011680"/>
            <a:ext cx="82296" cy="1572768"/>
          </a:xfrm>
          <a:prstGeom prst="roundRect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67128"/>
            <a:ext cx="304495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4A340"/>
                </a:solidFill>
                <a:latin typeface="Aptos"/>
              </a:rPr>
              <a:t>−12.99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79192"/>
            <a:ext cx="3044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Gap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044952"/>
            <a:ext cx="3044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96B82"/>
                </a:solidFill>
                <a:latin typeface="Aptos"/>
              </a:rPr>
              <a:t>18.00% plan less 5.01% actual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82296" cy="1572768"/>
          </a:xfrm>
          <a:prstGeom prst="roundRect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167128"/>
            <a:ext cx="304495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8A67D6"/>
                </a:solidFill>
                <a:latin typeface="Aptos"/>
              </a:rPr>
              <a:t>−8% to −11%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679192"/>
            <a:ext cx="3044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Q2 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044952"/>
            <a:ext cx="304495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96B82"/>
                </a:solidFill>
                <a:latin typeface="Aptos"/>
              </a:rPr>
              <a:t>Chennai −7.6% · Jaipur −10.7%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77639"/>
            <a:ext cx="5349240" cy="1508760"/>
          </a:xfrm>
          <a:prstGeom prst="roundRect">
            <a:avLst/>
          </a:prstGeom>
          <a:solidFill>
            <a:srgbClr val="D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224528"/>
            <a:ext cx="2331720" cy="29260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233672"/>
            <a:ext cx="2185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WHAT DROVE H1 GROWTH?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45152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More patients (+3.76%) and tests per visit (+2.19%) were partly offset by fewer visits per patient (−0.97%).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977639"/>
            <a:ext cx="5349240" cy="150876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10528" y="4224528"/>
            <a:ext cx="2880360" cy="292608"/>
          </a:xfrm>
          <a:prstGeom prst="roundRect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33672"/>
            <a:ext cx="27340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WHAT DID THE CITY REVIEW SHOW?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45152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Patient counts declined in both cities. Superseded records made the raw booking decline look smaller.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HOW WE ANALYZED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One consistent counting rule, then two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Analysis path used across both briefs; the same period and outcome definitions anchor each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874519" cy="2176272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457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4385F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36392"/>
            <a:ext cx="15087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Assemble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1508760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Bookings, city plan, and Legacy / Nova system fields</a:t>
            </a:r>
          </a:p>
        </p:txBody>
      </p:sp>
      <p:sp>
        <p:nvSpPr>
          <p:cNvPr id="11" name="Chevron 10"/>
          <p:cNvSpPr/>
          <p:nvPr/>
        </p:nvSpPr>
        <p:spPr>
          <a:xfrm>
            <a:off x="2496312" y="3246120"/>
            <a:ext cx="274320" cy="493776"/>
          </a:xfrm>
          <a:prstGeom prst="chevron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2928" y="2468880"/>
            <a:ext cx="1874519" cy="2176272"/>
          </a:xfrm>
          <a:prstGeom prst="roundRect">
            <a:avLst/>
          </a:prstGeom>
          <a:solidFill>
            <a:srgbClr val="D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670048"/>
            <a:ext cx="457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6B8A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136392"/>
            <a:ext cx="15087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Standardize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584448"/>
            <a:ext cx="1508760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Align dates, cities, periods, and booking definitions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4800600" y="3246120"/>
            <a:ext cx="274320" cy="493776"/>
          </a:xfrm>
          <a:prstGeom prst="chevron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57216" y="2468880"/>
            <a:ext cx="1874519" cy="2176272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670048"/>
            <a:ext cx="457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4A34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3136392"/>
            <a:ext cx="15087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Clean 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584448"/>
            <a:ext cx="1508760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Remove superseded reschedules; flag questionable rows</a:t>
            </a:r>
          </a:p>
        </p:txBody>
      </p:sp>
      <p:sp>
        <p:nvSpPr>
          <p:cNvPr id="21" name="Chevron 20"/>
          <p:cNvSpPr/>
          <p:nvPr/>
        </p:nvSpPr>
        <p:spPr>
          <a:xfrm>
            <a:off x="7104888" y="3246120"/>
            <a:ext cx="274320" cy="493776"/>
          </a:xfrm>
          <a:prstGeom prst="chevron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1504" y="2468880"/>
            <a:ext cx="1874519" cy="2176272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2670048"/>
            <a:ext cx="457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A67D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3136392"/>
            <a:ext cx="15087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3584448"/>
            <a:ext cx="1508760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H1 actual vs plan; Q2 cities vs Legacy peers</a:t>
            </a:r>
          </a:p>
        </p:txBody>
      </p:sp>
      <p:sp>
        <p:nvSpPr>
          <p:cNvPr id="26" name="Chevron 25"/>
          <p:cNvSpPr/>
          <p:nvPr/>
        </p:nvSpPr>
        <p:spPr>
          <a:xfrm>
            <a:off x="9409176" y="3246120"/>
            <a:ext cx="274320" cy="493776"/>
          </a:xfrm>
          <a:prstGeom prst="chevron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65792" y="2468880"/>
            <a:ext cx="1874519" cy="2176272"/>
          </a:xfrm>
          <a:prstGeom prst="roundRect">
            <a:avLst/>
          </a:prstGeom>
          <a:solidFill>
            <a:srgbClr val="FD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670048"/>
            <a:ext cx="457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EF6F6C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3136392"/>
            <a:ext cx="15087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Explain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3584448"/>
            <a:ext cx="1508760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Decompose growth; check patient / visit activity and sensitivity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02352"/>
            <a:ext cx="10561320" cy="658368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257800"/>
            <a:ext cx="101041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Output: separate the plan shortfall from the booking-system effect, then state what the data can and cannot establish.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BRIEF A ·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The growth tree explains the +5.01%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H1 2026 compared with H1 2025 · factors are ratios of each measure across the two periods.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331720" cy="1298448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21122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596B82"/>
                </a:solidFill>
                <a:latin typeface="Aptos"/>
              </a:rP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62072"/>
            <a:ext cx="2112264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4385F5"/>
                </a:solidFill>
                <a:latin typeface="Aptos"/>
              </a:rPr>
              <a:t>+3.76%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697480"/>
            <a:ext cx="5029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596B82"/>
                </a:solidFill>
                <a:latin typeface="Aptos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331720"/>
            <a:ext cx="2331720" cy="1298448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532888"/>
            <a:ext cx="21122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596B82"/>
                </a:solidFill>
                <a:latin typeface="Aptos"/>
              </a:rPr>
              <a:t>VISITS /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862072"/>
            <a:ext cx="2112264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4A340"/>
                </a:solidFill>
                <a:latin typeface="Aptos"/>
              </a:rPr>
              <a:t>−0.97%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697480"/>
            <a:ext cx="5029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596B82"/>
                </a:solidFill>
                <a:latin typeface="Aptos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331720"/>
            <a:ext cx="2331720" cy="1298448"/>
          </a:xfrm>
          <a:prstGeom prst="roundRect">
            <a:avLst/>
          </a:prstGeom>
          <a:solidFill>
            <a:srgbClr val="D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7" y="2532888"/>
            <a:ext cx="21122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596B82"/>
                </a:solidFill>
                <a:latin typeface="Aptos"/>
              </a:rPr>
              <a:t>TESTS / VISIT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2862072"/>
            <a:ext cx="2112264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16B8A6"/>
                </a:solidFill>
                <a:latin typeface="Aptos"/>
              </a:rPr>
              <a:t>+2.19%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577840" y="3767328"/>
            <a:ext cx="1005840" cy="594360"/>
          </a:xfrm>
          <a:prstGeom prst="downArrow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30752" y="4498848"/>
            <a:ext cx="4709160" cy="105156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4645152"/>
            <a:ext cx="42062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2DCEC"/>
                </a:solidFill>
                <a:latin typeface="Aptos"/>
              </a:rPr>
              <a:t>TOTAL BOOKED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910328"/>
            <a:ext cx="42062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+5.01%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806440"/>
            <a:ext cx="83210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596B82"/>
                </a:solidFill>
                <a:latin typeface="Aptos"/>
              </a:rPr>
              <a:t>Growth factors combine multiplicatively: 1.0376 × 0.9903 × 1.0219 ≈ 1.0501.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BRIEF A · WHERE THE GAP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The shortfall is spread across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Every city was below its H1 2026 plan. Bars show each city’s share of the total positive shortfall.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Chennai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167128"/>
            <a:ext cx="6675120" cy="23774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0" y="2167128"/>
            <a:ext cx="6007608" cy="237744"/>
          </a:xfrm>
          <a:prstGeom prst="roundRect">
            <a:avLst/>
          </a:prstGeom>
          <a:solidFill>
            <a:srgbClr val="EF6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2130552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EF6F6C"/>
                </a:solidFill>
                <a:latin typeface="Aptos"/>
              </a:rPr>
              <a:t>22.5%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Bengaluru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706624"/>
            <a:ext cx="6675120" cy="23774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2706624"/>
            <a:ext cx="5767303" cy="237744"/>
          </a:xfrm>
          <a:prstGeom prst="roundRect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670048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F4A340"/>
                </a:solidFill>
                <a:latin typeface="Aptos"/>
              </a:rPr>
              <a:t>21.6%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27832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Jaipur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246120"/>
            <a:ext cx="6675120" cy="23774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0" y="3246120"/>
            <a:ext cx="5526999" cy="237744"/>
          </a:xfrm>
          <a:prstGeom prst="roundRect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3209544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8A67D6"/>
                </a:solidFill>
                <a:latin typeface="Aptos"/>
              </a:rPr>
              <a:t>20.7%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6732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Hyderabad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785615"/>
            <a:ext cx="6675120" cy="23774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785615"/>
            <a:ext cx="4138574" cy="237744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3749040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4385F5"/>
                </a:solidFill>
                <a:latin typeface="Aptos"/>
              </a:rPr>
              <a:t>15.5%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06824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Pune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325112"/>
            <a:ext cx="6675120" cy="23774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4325112"/>
            <a:ext cx="3471062" cy="237744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4288536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16B8A6"/>
                </a:solidFill>
                <a:latin typeface="Aptos"/>
              </a:rPr>
              <a:t>13.0%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Ahmedabad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864607"/>
            <a:ext cx="6675120" cy="23774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0" y="4864607"/>
            <a:ext cx="1788932" cy="237744"/>
          </a:xfrm>
          <a:prstGeom prst="roundRect">
            <a:avLst/>
          </a:prstGeom>
          <a:solidFill>
            <a:srgbClr val="27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4828032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27A879"/>
                </a:solidFill>
                <a:latin typeface="Aptos"/>
              </a:rPr>
              <a:t>6.7%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650992"/>
            <a:ext cx="10424160" cy="502920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42432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Aptos"/>
              </a:rPr>
              <a:t>Three largest contributors: Chennai 22.5% · Bengaluru 21.6% · Jaipur 20.7% (about 65% combined).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BRIEF B · IS THE DECLINE CITY-SPECIFIC?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Chennai and Jaipur fell while Legacy peers grew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Q2 booking change, Q2 2026 vs Q2 2025 · superseded bookings excluded consistently.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194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Four Legacy cities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468879"/>
            <a:ext cx="691286" cy="310896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74966" y="2423160"/>
            <a:ext cx="868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6B8A6"/>
                </a:solidFill>
                <a:latin typeface="Aptos"/>
              </a:rPr>
              <a:t>+2.1%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2194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Chennai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4721" y="3429000"/>
            <a:ext cx="2501798" cy="310896"/>
          </a:xfrm>
          <a:prstGeom prst="roundRect">
            <a:avLst/>
          </a:prstGeom>
          <a:solidFill>
            <a:srgbClr val="EF6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3161" y="3383280"/>
            <a:ext cx="868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EF6F6C"/>
                </a:solidFill>
                <a:latin typeface="Aptos"/>
              </a:rPr>
              <a:t>−7.6%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2194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Jaipur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4251" y="4389120"/>
            <a:ext cx="3522268" cy="310896"/>
          </a:xfrm>
          <a:prstGeom prst="roundRect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2691" y="4343400"/>
            <a:ext cx="868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8A67D6"/>
                </a:solidFill>
                <a:latin typeface="Aptos"/>
              </a:rPr>
              <a:t>−10.7%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148840"/>
            <a:ext cx="22860" cy="3063240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93852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96B82"/>
                </a:solidFill>
                <a:latin typeface="Aptos"/>
              </a:rPr>
              <a:t>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93852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96B82"/>
                </a:solidFill>
                <a:latin typeface="Aptos"/>
              </a:rPr>
              <a:t>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212848"/>
            <a:ext cx="2651760" cy="201168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248716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D2DCEC"/>
                </a:solidFill>
                <a:latin typeface="Aptos"/>
              </a:rPr>
              <a:t>Same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907792"/>
            <a:ext cx="210312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Superseded reschedules removed in all three comparisons.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77840"/>
            <a:ext cx="10424160" cy="566928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687568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Aptos"/>
              </a:rPr>
              <a:t>The peer comparison suggests the Chennai / Jaipur pattern is not a network-wide Q2 booking decline.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BRIEF B · COUNTING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Superseded records softened the reported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Raw Q2 2026 booking counts include records later replaced; after removal, the declines are larger.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57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359152"/>
            <a:ext cx="1188720" cy="292608"/>
          </a:xfrm>
          <a:prstGeom prst="roundRect">
            <a:avLst/>
          </a:prstGeom>
          <a:solidFill>
            <a:srgbClr val="EF6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368296"/>
            <a:ext cx="10424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CHENNAI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71216"/>
            <a:ext cx="1097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Q2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25496"/>
            <a:ext cx="12344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17,444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6499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Q2 2026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319272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17,086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58768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Less superseded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813048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EF6F6C"/>
                </a:solidFill>
                <a:latin typeface="Aptos"/>
              </a:rPr>
              <a:t>−970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Adjusted Q2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306824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16,116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999232"/>
            <a:ext cx="1600200" cy="91440"/>
          </a:xfrm>
          <a:prstGeom prst="round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300984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96B82"/>
                </a:solidFill>
                <a:latin typeface="Aptos"/>
              </a:rPr>
              <a:t>Raw -2.1%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694176"/>
            <a:ext cx="22402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EF6F6C"/>
                </a:solidFill>
                <a:latin typeface="Aptos"/>
              </a:rPr>
              <a:t>Adjusted -7.6%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148840"/>
            <a:ext cx="5257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0" y="2359152"/>
            <a:ext cx="1188720" cy="292608"/>
          </a:xfrm>
          <a:prstGeom prst="roundRect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368296"/>
            <a:ext cx="10424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JAIPUR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871216"/>
            <a:ext cx="1097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Q2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825496"/>
            <a:ext cx="12344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9,136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36499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Q2 2026 raw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319272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8,655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858768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Less superseded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813048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8A67D6"/>
                </a:solidFill>
                <a:latin typeface="Aptos"/>
              </a:rPr>
              <a:t>−494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35254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96B82"/>
                </a:solidFill>
                <a:latin typeface="Aptos"/>
              </a:rPr>
              <a:t>Adjusted Q2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306824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8,161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2999232"/>
            <a:ext cx="1600200" cy="91440"/>
          </a:xfrm>
          <a:prstGeom prst="round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3300984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96B82"/>
                </a:solidFill>
                <a:latin typeface="Aptos"/>
              </a:rPr>
              <a:t>Raw -5.3%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694176"/>
            <a:ext cx="22402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8A67D6"/>
                </a:solidFill>
                <a:latin typeface="Aptos"/>
              </a:rPr>
              <a:t>Adjusted -10.7%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440680"/>
            <a:ext cx="10149840" cy="621792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596128"/>
            <a:ext cx="9692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72B4D"/>
                </a:solidFill>
                <a:latin typeface="Aptos"/>
              </a:rPr>
              <a:t>This changes the size of the reported dip; it does not account for all of either city’s decline.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BRIEF B ·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172B4D"/>
                </a:solidFill>
                <a:latin typeface="Aptos"/>
              </a:rPr>
              <a:t>Patient counts fell; the data does not identify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Activity split in Q2 2026 vs Q2 2025 separates patient volume from activity among patients.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596B82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120640" cy="1691640"/>
          </a:xfrm>
          <a:prstGeom prst="roundRect">
            <a:avLst/>
          </a:prstGeom>
          <a:solidFill>
            <a:srgbClr val="FD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96B82"/>
                </a:solidFill>
                <a:latin typeface="Aptos"/>
              </a:rPr>
              <a:t>CHENNAI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1051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660904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EF6F6C"/>
                </a:solidFill>
                <a:latin typeface="Aptos"/>
              </a:rPr>
              <a:t>−8.3%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24912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Visits /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660904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+0.8%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8688"/>
            <a:ext cx="109728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Tests /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163824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+2.8%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F6F6C"/>
                </a:solidFill>
                <a:latin typeface="Aptos"/>
              </a:rPr>
              <a:t>Patient drop is the main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5120640" cy="169164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6771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96B82"/>
                </a:solidFill>
                <a:latin typeface="Aptos"/>
              </a:rPr>
              <a:t>JAIPUR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24912"/>
            <a:ext cx="1051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Patients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660904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8A67D6"/>
                </a:solidFill>
                <a:latin typeface="Aptos"/>
              </a:rPr>
              <a:t>−10.7%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724912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Visits / patient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2660904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+0.0%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18688"/>
            <a:ext cx="109728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96B82"/>
                </a:solidFill>
                <a:latin typeface="Aptos"/>
              </a:rPr>
              <a:t>Tests / visit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163824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+2.4%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00400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A67D6"/>
                </a:solidFill>
                <a:latin typeface="Aptos"/>
              </a:rPr>
              <a:t>Patient drop is the main signal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60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370832"/>
            <a:ext cx="1508760" cy="292608"/>
          </a:xfrm>
          <a:prstGeom prst="roundRect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" y="4379976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DATE ANOMALY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73168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2,442 rows were two days before booking; including them changes growth from +5.01% to +4.97%.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160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17720" y="4370832"/>
            <a:ext cx="1234440" cy="292608"/>
          </a:xfrm>
          <a:prstGeom prst="roundRect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4379976"/>
            <a:ext cx="10881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TEST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773168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1,311 rows had missing or invalid test codes; 21 Nova visits had no accepted test row.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160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75320" y="4370832"/>
            <a:ext cx="914400" cy="292608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4379976"/>
            <a:ext cx="7680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773168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Jaipur was declining before the April 2026 move. The cause of fewer patients is not established.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897880"/>
            <a:ext cx="10149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96B82"/>
                </a:solidFill>
                <a:latin typeface="Aptos"/>
              </a:rPr>
              <a:t>Separate cross-check: lab-result rows grew +6.09%; they omit visits without a recorded result and are not the plan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554480" cy="29260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408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Reconcile the counts, then respond to the patient decline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903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D2DCEC"/>
                </a:solidFill>
                <a:latin typeface="Aptos"/>
              </a:rPr>
              <a:t>The evidence supports action on both measurement and growth, with the sequence below.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D2DCEC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1"/>
            <a:ext cx="7315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267712"/>
            <a:ext cx="530352" cy="530352"/>
          </a:xfrm>
          <a:prstGeom prst="ellipse">
            <a:avLst/>
          </a:prstGeom>
          <a:solidFill>
            <a:srgbClr val="16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5303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03703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Reconcile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203703"/>
            <a:ext cx="45262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Compare city dashboards to booking-level visits. Agree how replacement bookings and superseded reschedules are counted.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7315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383280"/>
            <a:ext cx="530352" cy="530352"/>
          </a:xfrm>
          <a:prstGeom prst="ellipse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383280"/>
            <a:ext cx="5303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1927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319272"/>
            <a:ext cx="45262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Confirm whether the Chennai / Jaipur patient-count drops persist in the reconciled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15968"/>
            <a:ext cx="7315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4498848"/>
            <a:ext cx="530352" cy="530352"/>
          </a:xfrm>
          <a:prstGeom prst="ellipse">
            <a:avLst/>
          </a:prstGeom>
          <a:solidFill>
            <a:srgbClr val="8A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498848"/>
            <a:ext cx="5303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4434840"/>
            <a:ext cx="452628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96B82"/>
                </a:solidFill>
                <a:latin typeface="Aptos"/>
              </a:rPr>
              <a:t>If they persist, investigate patient acquisition and retention with the city teams; then choose a city-specific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2084831"/>
            <a:ext cx="2971800" cy="3154680"/>
          </a:xfrm>
          <a:prstGeom prst="roundRect">
            <a:avLst/>
          </a:prstGeom>
          <a:solidFill>
            <a:srgbClr val="438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404872"/>
            <a:ext cx="24231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Two truths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3063240"/>
            <a:ext cx="23774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Growth is below 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803904"/>
            <a:ext cx="1874519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4096512"/>
            <a:ext cx="23774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The count issue explains only part of the city declines.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0698480" cy="530352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69864"/>
            <a:ext cx="101498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D2DCEC"/>
                </a:solidFill>
                <a:latin typeface="Aptos"/>
              </a:rPr>
              <a:t>No financial cost estimate is claimed; the decision is to verify the signal before changing city plans.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Kalpa Health: Growth and Two-City Booking Review</dc:title>
  <dc:subject>Briefs A and B: growth decomposition, city comparison, and counting caveat</dc:subject>
  <dc:creator>Kalpa Health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